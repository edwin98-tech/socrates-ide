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FE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TECH ARC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114300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Socrates-IDE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242316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8EA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Restoring Critical Thinking to Computer Science Education in the Age of Generative AI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703320"/>
            <a:ext cx="2194560" cy="0"/>
          </a:xfrm>
          <a:prstGeom prst="line">
            <a:avLst/>
          </a:prstGeom>
          <a:noFill/>
          <a:ln w="12700">
            <a:solidFill>
              <a:srgbClr val="2C35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8862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8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PRESIDENCY UNIVERSITY, BANGALORE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4279392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Edwin S  —  Team Leader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Hemavathi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Rohith Mahto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Pragna Prashanth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37960" y="777240"/>
            <a:ext cx="5074920" cy="5303520"/>
          </a:xfrm>
          <a:prstGeom prst="roundRect">
            <a:avLst>
              <a:gd name="adj" fmla="val 2162"/>
            </a:avLst>
          </a:prstGeom>
          <a:solidFill>
            <a:srgbClr val="1B2242"/>
          </a:solidFill>
          <a:ln w="12700">
            <a:solidFill>
              <a:srgbClr val="2C35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12280" y="1033272"/>
            <a:ext cx="128016" cy="128016"/>
          </a:xfrm>
          <a:prstGeom prst="ellipse">
            <a:avLst/>
          </a:prstGeom>
          <a:solidFill>
            <a:srgbClr val="E8626B"/>
          </a:solidFill>
          <a:ln w="12700">
            <a:solidFill>
              <a:srgbClr val="E862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68312" y="1033272"/>
            <a:ext cx="128016" cy="128016"/>
          </a:xfrm>
          <a:prstGeom prst="ellipse">
            <a:avLst/>
          </a:prstGeom>
          <a:solidFill>
            <a:srgbClr val="E8C468"/>
          </a:solidFill>
          <a:ln w="12700">
            <a:solidFill>
              <a:srgbClr val="E8C46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24344" y="1033272"/>
            <a:ext cx="128016" cy="128016"/>
          </a:xfrm>
          <a:prstGeom prst="ellipse">
            <a:avLst/>
          </a:prstGeom>
          <a:solidFill>
            <a:srgbClr val="5FE0C7"/>
          </a:solidFill>
          <a:ln w="12700">
            <a:solidFill>
              <a:srgbClr val="5FE0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01000" y="96012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debug_session.py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537960" y="1344168"/>
            <a:ext cx="5074920" cy="0"/>
          </a:xfrm>
          <a:prstGeom prst="line">
            <a:avLst/>
          </a:prstGeom>
          <a:noFill/>
          <a:ln w="12700">
            <a:solidFill>
              <a:srgbClr val="2C35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164592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</a:t>
            </a:r>
            <a:pPr indent="0" marL="0">
              <a:buNone/>
            </a:pPr>
            <a:r>
              <a:rPr lang="en-US" sz="1150" b="1" dirty="0">
                <a:solidFill>
                  <a:srgbClr val="5FE0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pPr indent="0" marL="0">
              <a:buNone/>
            </a:pPr>
            <a:r>
              <a:rPr lang="en-US" sz="1150" dirty="0">
                <a:solidFill>
                  <a:srgbClr val="8E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binary_search</a:t>
            </a:r>
            <a:pPr indent="0" marL="0">
              <a:buNone/>
            </a:pPr>
            <a:r>
              <a:rPr lang="en-US" sz="1150" dirty="0">
                <a:solidFill>
                  <a:srgbClr val="C9C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(arr, target):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858000" y="2029968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</a:t>
            </a:r>
            <a:pPr indent="0" marL="0">
              <a:buNone/>
            </a:pPr>
            <a:r>
              <a:rPr lang="en-US" sz="1150" dirty="0">
                <a:solidFill>
                  <a:srgbClr val="C9C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low, high = 0, len(arr)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858000" y="2414016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</a:t>
            </a:r>
            <a:pPr indent="0" marL="0">
              <a:buNone/>
            </a:pPr>
            <a:r>
              <a:rPr lang="en-US" sz="1150" dirty="0">
                <a:solidFill>
                  <a:srgbClr val="C9C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low &lt;= high: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858000" y="2798064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</a:t>
            </a:r>
            <a:pPr indent="0" marL="0">
              <a:buNone/>
            </a:pPr>
            <a:r>
              <a:rPr lang="en-US" sz="1150" dirty="0">
                <a:solidFill>
                  <a:srgbClr val="C9C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mid = (low + high) // 2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858000" y="3182112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 </a:t>
            </a:r>
            <a:pPr indent="0" marL="0">
              <a:buNone/>
            </a:pPr>
            <a:r>
              <a:rPr lang="en-US" sz="1150" dirty="0">
                <a:solidFill>
                  <a:srgbClr val="C9C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150" i="1" dirty="0">
                <a:solidFill>
                  <a:srgbClr val="E86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IndexError: list index out of range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58000" y="3730752"/>
            <a:ext cx="4434840" cy="0"/>
          </a:xfrm>
          <a:prstGeom prst="line">
            <a:avLst/>
          </a:prstGeom>
          <a:noFill/>
          <a:ln w="12700">
            <a:solidFill>
              <a:srgbClr val="2C35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0" y="3959352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FE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PROMPT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0" y="4288536"/>
            <a:ext cx="4434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“Your loop condition uses &lt;= high. If high starts at len(arr), what index does that allow on the first pass?”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858000" y="562356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8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fix supplied — reasoning required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“Answer Machine” Epidemic in CS Education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1732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Appears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2880360" y="1417320"/>
            <a:ext cx="320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0" y="141732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0" y="141732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Copy-Paste to AI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532120" y="1417320"/>
            <a:ext cx="320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852160" y="141732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0" y="141732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Code Fix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183880" y="1417320"/>
            <a:ext cx="320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503920" y="141732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FBEAEA"/>
          </a:solidFill>
          <a:ln w="12700">
            <a:solidFill>
              <a:srgbClr val="E862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0" y="141732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B2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Learning Retained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48640" y="1051560"/>
            <a:ext cx="10287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CURRENT, BROKEN LOOP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2697480"/>
            <a:ext cx="5349240" cy="36576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0175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4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3383280"/>
            <a:ext cx="4709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generative-AI tools act as immediate code generators rather than educators. When a bug appears, students copy-paste the raw error, receive a direct fix, and apply it blindly — without ever engaging with the underlying logic.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126480" y="2697480"/>
            <a:ext cx="5486400" cy="36576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30175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4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BOTTLENECKS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46520" y="3493008"/>
            <a:ext cx="329184" cy="329184"/>
          </a:xfrm>
          <a:prstGeom prst="ellipse">
            <a:avLst/>
          </a:prstGeom>
          <a:solidFill>
            <a:srgbClr val="EDEFFA"/>
          </a:solidFill>
          <a:ln w="12700">
            <a:solidFill>
              <a:srgbClr val="EDEF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3493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12" b="1" dirty="0">
                <a:solidFill>
                  <a:srgbClr val="3A4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12" dirty="0"/>
          </a:p>
        </p:txBody>
      </p:sp>
      <p:sp>
        <p:nvSpPr>
          <p:cNvPr id="22" name="Text 20"/>
          <p:cNvSpPr/>
          <p:nvPr/>
        </p:nvSpPr>
        <p:spPr>
          <a:xfrm>
            <a:off x="6903720" y="347472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Vanishing Debugging Skills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903720" y="3767328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bypass the critical cognitive process of reading stack traces and analyzing logic loops.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46520" y="4453128"/>
            <a:ext cx="329184" cy="329184"/>
          </a:xfrm>
          <a:prstGeom prst="ellipse">
            <a:avLst/>
          </a:prstGeom>
          <a:solidFill>
            <a:srgbClr val="EDEFFA"/>
          </a:solidFill>
          <a:ln w="12700">
            <a:solidFill>
              <a:srgbClr val="EDEF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4453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12" b="1" dirty="0">
                <a:solidFill>
                  <a:srgbClr val="3A4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12" dirty="0"/>
          </a:p>
        </p:txBody>
      </p:sp>
      <p:sp>
        <p:nvSpPr>
          <p:cNvPr id="26" name="Text 24"/>
          <p:cNvSpPr/>
          <p:nvPr/>
        </p:nvSpPr>
        <p:spPr>
          <a:xfrm>
            <a:off x="6903720" y="443484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Instructional Strain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903720" y="4727448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assistants and faculty are overwhelmed by students who cannot explain their own modified code.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46520" y="5413248"/>
            <a:ext cx="329184" cy="329184"/>
          </a:xfrm>
          <a:prstGeom prst="ellipse">
            <a:avLst/>
          </a:prstGeom>
          <a:solidFill>
            <a:srgbClr val="EDEFFA"/>
          </a:solidFill>
          <a:ln w="12700">
            <a:solidFill>
              <a:srgbClr val="EDEF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46520" y="5413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12" b="1" dirty="0">
                <a:solidFill>
                  <a:srgbClr val="3A4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12" dirty="0"/>
          </a:p>
        </p:txBody>
      </p:sp>
      <p:sp>
        <p:nvSpPr>
          <p:cNvPr id="30" name="Text 28"/>
          <p:cNvSpPr/>
          <p:nvPr/>
        </p:nvSpPr>
        <p:spPr>
          <a:xfrm>
            <a:off x="6903720" y="539496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Risks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6903720" y="5687568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Cultivating a generation of developers reliant on external syntax generation rather than foundational computational thinking.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Socrates-IDE: A Pedagogical Code Environment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i="1" dirty="0">
                <a:solidFill>
                  <a:srgbClr val="3A4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development environment engineered not to write code for the student, but to guide them through the process of fixing it themselves.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691640"/>
          </a:xfrm>
          <a:prstGeom prst="roundRect">
            <a:avLst>
              <a:gd name="adj" fmla="val 3243"/>
            </a:avLst>
          </a:prstGeom>
          <a:solidFill>
            <a:srgbClr val="12172B"/>
          </a:solidFill>
          <a:ln w="12700">
            <a:solidFill>
              <a:srgbClr val="2C35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65899" y="1920240"/>
            <a:ext cx="0" cy="1417320"/>
          </a:xfrm>
          <a:prstGeom prst="line">
            <a:avLst/>
          </a:prstGeom>
          <a:noFill/>
          <a:ln w="12700">
            <a:solidFill>
              <a:srgbClr val="2C35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4767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A7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EDITOR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22960" y="2313432"/>
            <a:ext cx="58686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C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range(n):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624328"/>
            <a:ext cx="58686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C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+= arr[i]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935224"/>
            <a:ext cx="58686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C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i="1" dirty="0">
                <a:solidFill>
                  <a:srgbClr val="E8C4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stack overflow risk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240219" y="1947672"/>
            <a:ext cx="40983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5FE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DIALOGUE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240219" y="2286000"/>
            <a:ext cx="4098341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to total on each pass — and does n ever get re-checked against the array bounds?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3566160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" y="4096512"/>
            <a:ext cx="402336" cy="402336"/>
          </a:xfrm>
          <a:prstGeom prst="ellipse">
            <a:avLst/>
          </a:prstGeom>
          <a:solidFill>
            <a:srgbClr val="3A4A9A"/>
          </a:solidFill>
          <a:ln w="12700">
            <a:solidFill>
              <a:srgbClr val="3A4A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4096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48" dirty="0"/>
          </a:p>
        </p:txBody>
      </p:sp>
      <p:sp>
        <p:nvSpPr>
          <p:cNvPr id="15" name="Text 13"/>
          <p:cNvSpPr/>
          <p:nvPr/>
        </p:nvSpPr>
        <p:spPr>
          <a:xfrm>
            <a:off x="841248" y="4663440"/>
            <a:ext cx="29809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Interception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1248" y="5166360"/>
            <a:ext cx="29809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between the compiler and the student, catching syntax, runtime, and compilation errors in real time.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343400" y="3794760"/>
            <a:ext cx="3566160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99432" y="4096512"/>
            <a:ext cx="402336" cy="402336"/>
          </a:xfrm>
          <a:prstGeom prst="ellipse">
            <a:avLst/>
          </a:prstGeom>
          <a:solidFill>
            <a:srgbClr val="3A4A9A"/>
          </a:solidFill>
          <a:ln w="12700">
            <a:solidFill>
              <a:srgbClr val="3A4A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99432" y="4096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48" dirty="0"/>
          </a:p>
        </p:txBody>
      </p:sp>
      <p:sp>
        <p:nvSpPr>
          <p:cNvPr id="20" name="Text 18"/>
          <p:cNvSpPr/>
          <p:nvPr/>
        </p:nvSpPr>
        <p:spPr>
          <a:xfrm>
            <a:off x="4636008" y="4663440"/>
            <a:ext cx="29809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Pedagogical Boundary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636008" y="5166360"/>
            <a:ext cx="29809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raw, confusing stack traces with structured, pedagogical feedback.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138160" y="3794760"/>
            <a:ext cx="3566160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94192" y="4096512"/>
            <a:ext cx="402336" cy="402336"/>
          </a:xfrm>
          <a:prstGeom prst="ellipse">
            <a:avLst/>
          </a:prstGeom>
          <a:solidFill>
            <a:srgbClr val="3A4A9A"/>
          </a:solidFill>
          <a:ln w="12700">
            <a:solidFill>
              <a:srgbClr val="3A4A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94192" y="4096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48" dirty="0"/>
          </a:p>
        </p:txBody>
      </p:sp>
      <p:sp>
        <p:nvSpPr>
          <p:cNvPr id="25" name="Text 23"/>
          <p:cNvSpPr/>
          <p:nvPr/>
        </p:nvSpPr>
        <p:spPr>
          <a:xfrm>
            <a:off x="8430768" y="4663440"/>
            <a:ext cx="29809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Guidance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430768" y="5166360"/>
            <a:ext cx="29809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the student's debugging journey over time to adapt the complexity of its assistance.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70/30 Rule of Engagement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backend system orchestrates a precise balance between guidance and fallback assistance — preventing student frustration while ensuring active learning.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2286000"/>
          </a:xfrm>
          <a:prstGeom prst="roundRect">
            <a:avLst>
              <a:gd name="adj" fmla="val 2400"/>
            </a:avLst>
          </a:prstGeom>
          <a:solidFill>
            <a:srgbClr val="12172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202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5FE0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868680" y="27432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D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GUIDING QUESTIONS — PRIMARY MODE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306324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acts strictly as a digital mentor, analyzing the error stack and local code context, then prompts the student with targeted, conceptual questions: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35387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E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“Look at the array boundary on line 12 — what value does the index hold during the final iteration?”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26480" y="1691640"/>
            <a:ext cx="534924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9202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6446520" y="27432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HINTS — FALLBACK MODE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46520" y="30632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only if the student demonstrates sustained friction across multiple attempts.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46520" y="34747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conceptual hints or links to official documentation — never raw, copy-pasteable code blocks.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3886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SOCRATIC LOOP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425196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EDEFFA"/>
          </a:solidFill>
          <a:ln w="12700">
            <a:solidFill>
              <a:srgbClr val="3A4A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25196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Triggers Loop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154680" y="4251960"/>
            <a:ext cx="274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429000" y="425196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EDEFFA"/>
          </a:solidFill>
          <a:ln w="12700">
            <a:solidFill>
              <a:srgbClr val="3A4A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0" y="425196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Conceptual Question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035040" y="4251960"/>
            <a:ext cx="274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309360" y="425196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BF3E2"/>
          </a:solidFill>
          <a:ln w="12700">
            <a:solidFill>
              <a:srgbClr val="E8C46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425196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Friction?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915400" y="4251960"/>
            <a:ext cx="274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189720" y="425196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EDEFFA"/>
          </a:solidFill>
          <a:ln w="12700">
            <a:solidFill>
              <a:srgbClr val="3A4A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26880" y="425196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Minimal, Non-Code Hint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Lightweight, Local-First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THREE-TIER STACK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411480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65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4A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317296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INTERFACE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3566160"/>
            <a:ext cx="2971800" cy="0"/>
          </a:xfrm>
          <a:prstGeom prst="line">
            <a:avLst/>
          </a:prstGeom>
          <a:noFill/>
          <a:ln w="12700">
            <a:solidFill>
              <a:srgbClr val="E2E5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749040"/>
            <a:ext cx="2971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responsive, web-based code editor built using Monaco Editor — providing a familiar, zero-friction developer environment.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069080" y="1691640"/>
            <a:ext cx="32004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389120" y="1691640"/>
            <a:ext cx="3520440" cy="411480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965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4A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663440" y="256032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Interceptor Layer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63440" y="317296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 PROXY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3566160"/>
            <a:ext cx="2971800" cy="0"/>
          </a:xfrm>
          <a:prstGeom prst="line">
            <a:avLst/>
          </a:prstGeom>
          <a:noFill/>
          <a:ln w="12700">
            <a:solidFill>
              <a:srgbClr val="E2E5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3749040"/>
            <a:ext cx="2971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 compilation simulation / interpreter proxy that captures console, syntax, and runtime exceptions.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909560" y="1691640"/>
            <a:ext cx="32004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8229600" y="1691640"/>
            <a:ext cx="3520440" cy="4114800"/>
          </a:xfrm>
          <a:prstGeom prst="roundRect">
            <a:avLst>
              <a:gd name="adj" fmla="val 1558"/>
            </a:avLst>
          </a:prstGeom>
          <a:solidFill>
            <a:srgbClr val="12172B"/>
          </a:solidFill>
          <a:ln w="12700">
            <a:solidFill>
              <a:srgbClr val="2C35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0" y="1965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FE0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503920" y="256032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Orchestration Engine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503920" y="317296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D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REASONING CORE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503920" y="3566160"/>
            <a:ext cx="2971800" cy="0"/>
          </a:xfrm>
          <a:prstGeom prst="line">
            <a:avLst/>
          </a:prstGeom>
          <a:noFill/>
          <a:ln w="12700">
            <a:solidFill>
              <a:srgbClr val="2C35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0" y="3749040"/>
            <a:ext cx="2971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backend framework using highly structured LLM system prompts — optimized for local deployment via Ollama — to evaluate logic bugs without returning raw code.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Scalability &amp; The Broader Educational Ecosystem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4846320" cy="4572000"/>
          </a:xfrm>
          <a:prstGeom prst="roundRect">
            <a:avLst>
              <a:gd name="adj" fmla="val 1600"/>
            </a:avLst>
          </a:prstGeom>
          <a:solidFill>
            <a:srgbClr val="1B2242"/>
          </a:solidFill>
          <a:ln w="12700">
            <a:solidFill>
              <a:srgbClr val="2C35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8288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FE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HACKATHON IMPACT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" y="2148840"/>
            <a:ext cx="4297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Automates high-quality, personalized code troubleshooting.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3749040"/>
            <a:ext cx="4297680" cy="0"/>
          </a:xfrm>
          <a:prstGeom prst="line">
            <a:avLst/>
          </a:prstGeom>
          <a:noFill/>
          <a:ln w="12700">
            <a:solidFill>
              <a:srgbClr val="2C35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977640"/>
            <a:ext cx="42976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50" i="1" dirty="0">
                <a:solidFill>
                  <a:srgbClr val="C9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heavily reduces the scaling bottleneck for instructional staff — giving every student a patient, always-available debugging mentor.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989320" y="1554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D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HORIZON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53912" y="2103120"/>
            <a:ext cx="0" cy="3703320"/>
          </a:xfrm>
          <a:prstGeom prst="line">
            <a:avLst/>
          </a:prstGeom>
          <a:noFill/>
          <a:ln w="19050">
            <a:solidFill>
              <a:srgbClr val="2C35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44184" y="2066544"/>
            <a:ext cx="219456" cy="219456"/>
          </a:xfrm>
          <a:prstGeom prst="ellipse">
            <a:avLst/>
          </a:prstGeom>
          <a:solidFill>
            <a:srgbClr val="5FE0C7"/>
          </a:solidFill>
          <a:ln w="19050">
            <a:solidFill>
              <a:srgbClr val="5FE0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98424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FE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46520" y="225856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Socrates-IDE Standalone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46520" y="2633472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D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Socratic debugging environment as a self-contained web IDE for hackathon deployment.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44184" y="3392424"/>
            <a:ext cx="219456" cy="219456"/>
          </a:xfrm>
          <a:prstGeom prst="ellipse">
            <a:avLst/>
          </a:prstGeom>
          <a:solidFill>
            <a:srgbClr val="1B2242"/>
          </a:solidFill>
          <a:ln w="19050">
            <a:solidFill>
              <a:srgbClr val="5FE0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33101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FE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46520" y="358444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IDE Integration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46520" y="3959352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D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 the environment into native extensions for VS Code and JetBrains IDEs.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44184" y="4718304"/>
            <a:ext cx="219456" cy="219456"/>
          </a:xfrm>
          <a:prstGeom prst="ellipse">
            <a:avLst/>
          </a:prstGeom>
          <a:solidFill>
            <a:srgbClr val="1B2242"/>
          </a:solidFill>
          <a:ln w="19050">
            <a:solidFill>
              <a:srgbClr val="5FE0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463600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FE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46520" y="491032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Educational Platform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46520" y="5285232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D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underlying engine expands beyond code — accommodating writing analysis, automated rubric mapping, and cross-disciplinary learning aids.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2026-07-15T11:43:30Z</dcterms:created>
  <dcterms:modified xsi:type="dcterms:W3CDTF">2026-07-15T11:43:30Z</dcterms:modified>
</cp:coreProperties>
</file>